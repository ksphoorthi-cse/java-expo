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Fira Sans Condensed"/>
      <p:regular r:id="rId201314"/>
    </p:embeddedFont>
    <p:embeddedFont>
      <p:font typeface="Fira Sans Condensed SemiBold"/>
      <p:regular r:id="rId201315"/>
    </p:embeddedFont>
    <p:embeddedFont>
      <p:font typeface="Fira Sans Condensed Bold"/>
      <p:regular r:id="rId201316"/>
    </p:embeddedFont>
    <p:embeddedFont>
      <p:font typeface="JetBrains Mono"/>
      <p:regular r:id="rId201317"/>
    </p:embeddedFont>
    <p:embeddedFont>
      <p:font typeface="JetBrains Mono Medium"/>
      <p:regular r:id="rId201318"/>
    </p:embeddedFont>
    <p:embeddedFont>
      <p:font typeface="JetBrai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Java system that brings attendance, marks, grades and academic summaries into one dependable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has two jobs: hold the right academic information and make that information easier to interpret. The goal is accuracy without unnecessary manual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fragmentation rather than a lack of effort. The same people are doing repeated work across different records, which creates opportunities for inconsistency.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declaration to the domain. An integer identifies a student, a double represents a measurable academic value, and a character can hold a grade. Naming makes the logic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flow to explain how control structures work together. Conditions make a decision; loops make sure the decision is repeated consistently across the full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Arrays are useful here because the groups are fixed and related. The same loop can move across assessment marks or attendance sessions and produce a meaningful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center of the model first: Student. Courses, grade records and attendance records are separate concepts, but their relationships explain how the tracker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processing supports the human-facing report. File I/O gives the system memory beyond one run, so a student’s academic history is not lost when the program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progression from storage to action. Collections hold the records in useful forms; lambdas and streams turn those records into filtered, sorted and collected academic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reconnecting the concepts to the system. The value is the combination: structured records, repeatable decisions, preserved history and a design that can grow into future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721407" cy="6858099"/>
          </a:xfrm>
          <a:prstGeom prst="rect">
            <a:avLst/>
          </a:prstGeom>
          <a:solidFill>
            <a:srgbClr val="F4F3EC"/>
          </a:solidFill>
          <a:ln/>
        </p:spPr>
      </p:sp>
      <p:sp>
        <p:nvSpPr>
          <p:cNvPr id="4" name="Text 1"/>
          <p:cNvSpPr/>
          <p:nvPr/>
        </p:nvSpPr>
        <p:spPr>
          <a:xfrm>
            <a:off x="431789" y="387350"/>
            <a:ext cx="784205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JAVA PROJECT · UNIVERSITY SYSTEM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31789" y="851892"/>
            <a:ext cx="680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spc="-48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University Grade and Attendance Tracking System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31789" y="2852341"/>
            <a:ext cx="912521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Java project presentation connecting core programming concepts to a practical academic workflow.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1789" y="3153271"/>
            <a:ext cx="685782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Covers attendance, marks, grades and academic summaries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Built with core Java concepts from the course outcomes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1789" y="5531941"/>
            <a:ext cx="3352716" cy="995859"/>
          </a:xfrm>
          <a:prstGeom prst="rect">
            <a:avLst/>
          </a:prstGeom>
          <a:solidFill>
            <a:srgbClr val="DDF2E8"/>
          </a:solidFill>
          <a:ln/>
        </p:spPr>
      </p:sp>
      <p:sp>
        <p:nvSpPr>
          <p:cNvPr id="9" name="Text 6"/>
          <p:cNvSpPr/>
          <p:nvPr/>
        </p:nvSpPr>
        <p:spPr>
          <a:xfrm>
            <a:off x="584185" y="5670848"/>
            <a:ext cx="375275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4185" y="5870575"/>
            <a:ext cx="3047924" cy="49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[1. K.Sphoorthi-2620030567]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[2. V.Sai Sphoorthi-2620030569]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36902" y="5531941"/>
            <a:ext cx="3352716" cy="995859"/>
          </a:xfrm>
          <a:prstGeom prst="rect">
            <a:avLst/>
          </a:prstGeom>
          <a:solidFill>
            <a:srgbClr val="DDF2E8"/>
          </a:solidFill>
          <a:ln/>
        </p:spPr>
      </p:sp>
      <p:sp>
        <p:nvSpPr>
          <p:cNvPr id="12" name="Text 9"/>
          <p:cNvSpPr/>
          <p:nvPr/>
        </p:nvSpPr>
        <p:spPr>
          <a:xfrm>
            <a:off x="4089298" y="5670848"/>
            <a:ext cx="375275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:6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426" y="2241550"/>
            <a:ext cx="3468402" cy="2559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41664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166512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2132211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One system turns scattered academic records into a reliable summary.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5591" y="2433141"/>
            <a:ext cx="11480513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Tracks enrolment, attendance and marks for every student and course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Flags low attendance early so staff can act before term end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Generates grade and attendance reports from one consistent data source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Reduces repeated manual entry and calculation errors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5591" y="3592612"/>
            <a:ext cx="5664058" cy="1563291"/>
          </a:xfrm>
          <a:prstGeom prst="roundRect">
            <a:avLst>
              <a:gd name="adj" fmla="val 4679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885" y="3808512"/>
            <a:ext cx="317492" cy="317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6885" y="4220865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Capture the record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6885" y="4495403"/>
            <a:ext cx="51814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Store student details, course enrolment, attendance entries, assessment marks and final grades in one Java application.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046" y="3592612"/>
            <a:ext cx="5664058" cy="1563291"/>
          </a:xfrm>
          <a:prstGeom prst="roundRect">
            <a:avLst>
              <a:gd name="adj" fmla="val 4679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340" y="3808512"/>
            <a:ext cx="317492" cy="317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13340" y="4220865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Make it useful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13340" y="4495403"/>
            <a:ext cx="51814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Calculate grades, present attendance percentages and produce clear academic reports with less manual work and fewer avoidable errors.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5591" y="5319415"/>
            <a:ext cx="1183610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SCOPE · STUDENT RECORDS · ATTENDANCE · GRADES · REPORTS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91" y="311150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THE SYSTEM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55591" y="559234"/>
            <a:ext cx="1142336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The problem is fragmented academic tracking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When records live in separate places, simple updates become unreliable decisions.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5591" y="1393527"/>
            <a:ext cx="5664058" cy="2516287"/>
          </a:xfrm>
          <a:prstGeom prst="roundRect">
            <a:avLst>
              <a:gd name="adj" fmla="val 2907"/>
            </a:avLst>
          </a:prstGeom>
          <a:solidFill>
            <a:srgbClr val="F4F3EC"/>
          </a:solidFill>
          <a:ln/>
        </p:spPr>
      </p:sp>
      <p:sp>
        <p:nvSpPr>
          <p:cNvPr id="7" name="Shape 4"/>
          <p:cNvSpPr/>
          <p:nvPr/>
        </p:nvSpPr>
        <p:spPr>
          <a:xfrm>
            <a:off x="558786" y="1571327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8" name="Text 5"/>
          <p:cNvSpPr/>
          <p:nvPr/>
        </p:nvSpPr>
        <p:spPr>
          <a:xfrm>
            <a:off x="626154" y="1644253"/>
            <a:ext cx="131590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8786" y="1920677"/>
            <a:ext cx="58101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Manual updates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58786" y="2194123"/>
            <a:ext cx="5257668" cy="713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Registers and spreadsheets make changes slow, duplicated and inconsistent. Each course is updated separately.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Delayed updates also slow term-end reporting and review.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046" y="1393527"/>
            <a:ext cx="5664058" cy="2516287"/>
          </a:xfrm>
          <a:prstGeom prst="roundRect">
            <a:avLst>
              <a:gd name="adj" fmla="val 2907"/>
            </a:avLst>
          </a:prstGeom>
          <a:solidFill>
            <a:srgbClr val="F4F3EC"/>
          </a:solidFill>
          <a:ln/>
        </p:spPr>
      </p:sp>
      <p:sp>
        <p:nvSpPr>
          <p:cNvPr id="12" name="Shape 9"/>
          <p:cNvSpPr/>
          <p:nvPr/>
        </p:nvSpPr>
        <p:spPr>
          <a:xfrm>
            <a:off x="6375241" y="1571327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13" name="Text 10"/>
          <p:cNvSpPr/>
          <p:nvPr/>
        </p:nvSpPr>
        <p:spPr>
          <a:xfrm>
            <a:off x="6438044" y="1644253"/>
            <a:ext cx="132533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75241" y="1920677"/>
            <a:ext cx="58101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Calculation risk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75241" y="2194123"/>
            <a:ext cx="520052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Attendance percentages and weighted grade totals are easy to miscalculate by hand.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5591" y="4062313"/>
            <a:ext cx="5664058" cy="2516485"/>
          </a:xfrm>
          <a:prstGeom prst="roundRect">
            <a:avLst>
              <a:gd name="adj" fmla="val 2907"/>
            </a:avLst>
          </a:prstGeom>
          <a:solidFill>
            <a:srgbClr val="F4F3EC"/>
          </a:solidFill>
          <a:ln/>
        </p:spPr>
      </p:sp>
      <p:sp>
        <p:nvSpPr>
          <p:cNvPr id="17" name="Shape 14"/>
          <p:cNvSpPr/>
          <p:nvPr/>
        </p:nvSpPr>
        <p:spPr>
          <a:xfrm>
            <a:off x="558786" y="4240113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18" name="Text 15"/>
          <p:cNvSpPr/>
          <p:nvPr/>
        </p:nvSpPr>
        <p:spPr>
          <a:xfrm>
            <a:off x="620796" y="4313039"/>
            <a:ext cx="13267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8786" y="4589264"/>
            <a:ext cx="58101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Limited visibility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58786" y="4890988"/>
            <a:ext cx="663350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Students and staff need a clearer view of grades and attendance trends.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046" y="4062313"/>
            <a:ext cx="5664058" cy="2516485"/>
          </a:xfrm>
          <a:prstGeom prst="roundRect">
            <a:avLst>
              <a:gd name="adj" fmla="val 2907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640" y="4265513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23" name="Text 20"/>
          <p:cNvSpPr/>
          <p:nvPr/>
        </p:nvSpPr>
        <p:spPr>
          <a:xfrm>
            <a:off x="6458582" y="4338439"/>
            <a:ext cx="133465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640" y="4605238"/>
            <a:ext cx="1505508" cy="257373"/>
          </a:xfrm>
          <a:prstGeom prst="roundRect">
            <a:avLst>
              <a:gd name="adj" fmla="val 9237"/>
            </a:avLst>
          </a:prstGeom>
          <a:solidFill>
            <a:srgbClr val="113B28"/>
          </a:solidFill>
          <a:ln/>
        </p:spPr>
      </p:sp>
      <p:sp>
        <p:nvSpPr>
          <p:cNvPr id="25" name="Text 22"/>
          <p:cNvSpPr/>
          <p:nvPr/>
        </p:nvSpPr>
        <p:spPr>
          <a:xfrm>
            <a:off x="6499658" y="4661495"/>
            <a:ext cx="286407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RESPONSE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640" y="4999236"/>
            <a:ext cx="575930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Validate and preserve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640" y="5272782"/>
            <a:ext cx="514972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tracker validates input, organizes data and preserves records for later review.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91" y="311150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CO1 · FOUNDATIONS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55591" y="559234"/>
            <a:ext cx="1142336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CO1: Data types, variables, and identifiers power every record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Good names and appropriate types make the tracker readable before it ever runs.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5591" y="1393527"/>
            <a:ext cx="3725075" cy="4903986"/>
          </a:xfrm>
          <a:prstGeom prst="roundRect">
            <a:avLst>
              <a:gd name="adj" fmla="val 1964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5037" y="3089277"/>
            <a:ext cx="35157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STUDENT DATA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5037" y="3287911"/>
            <a:ext cx="3248936" cy="1282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int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studentId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String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studentName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String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department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Identity fields describe who the record belongs 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33161" y="1393527"/>
            <a:ext cx="3725174" cy="4904085"/>
          </a:xfrm>
          <a:prstGeom prst="roundRect">
            <a:avLst>
              <a:gd name="adj" fmla="val 1964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42607" y="2945508"/>
            <a:ext cx="35158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ACADEMIC VALUES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42607" y="3144044"/>
            <a:ext cx="3249035" cy="156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double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marks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double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attendancePercentage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char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grade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int for IDs, double for measured values and char for a single grade letter.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Types match the kind of value being stored.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10632" y="1393527"/>
            <a:ext cx="3725174" cy="4904085"/>
          </a:xfrm>
          <a:prstGeom prst="roundRect">
            <a:avLst>
              <a:gd name="adj" fmla="val 1964"/>
            </a:avLst>
          </a:prstGeom>
          <a:solidFill>
            <a:srgbClr val="F4F3EC"/>
          </a:solidFill>
          <a:ln w="19050">
            <a:solidFill>
              <a:srgbClr val="F2D1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2777" y="3233044"/>
            <a:ext cx="350332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READABLE LABELS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32777" y="3431679"/>
            <a:ext cx="3223636" cy="99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totalMarks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courseCode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Meaningful identifiers keep calculations understandable.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5591" y="6424017"/>
            <a:ext cx="1183610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CHOICE + MEANINGFUL NAMES = RECORDS THAT ARE EASIER TO TRUST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91" y="311150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CO2 · CONTROL FLOW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55591" y="559234"/>
            <a:ext cx="1142336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Conditions and loops turn records into decisions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program applies the same rules to every student, course and academic entry.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5591" y="1355427"/>
            <a:ext cx="11480513" cy="1012627"/>
          </a:xfrm>
          <a:prstGeom prst="roundRect">
            <a:avLst>
              <a:gd name="adj" fmla="val 7224"/>
            </a:avLst>
          </a:prstGeom>
          <a:solidFill>
            <a:srgbClr val="F4F3EC"/>
          </a:solidFill>
          <a:ln/>
        </p:spPr>
      </p:sp>
      <p:sp>
        <p:nvSpPr>
          <p:cNvPr id="7" name="Text 4"/>
          <p:cNvSpPr/>
          <p:nvPr/>
        </p:nvSpPr>
        <p:spPr>
          <a:xfrm>
            <a:off x="533387" y="1488777"/>
            <a:ext cx="1165830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 FLOW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387" y="1724918"/>
            <a:ext cx="321936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Read marks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3387" y="2026444"/>
            <a:ext cx="321936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Collect assessment values.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52716" y="1724918"/>
            <a:ext cx="321936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Calculate total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52716" y="2026444"/>
            <a:ext cx="321936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Combine the record.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72046" y="1724918"/>
            <a:ext cx="321936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Assign grade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72046" y="2026444"/>
            <a:ext cx="321936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conditions.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91375" y="1724918"/>
            <a:ext cx="320032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Display status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91375" y="2026444"/>
            <a:ext cx="32003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Present the result.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5591" y="2520553"/>
            <a:ext cx="5664058" cy="1328837"/>
          </a:xfrm>
          <a:prstGeom prst="roundRect">
            <a:avLst>
              <a:gd name="adj" fmla="val 5505"/>
            </a:avLst>
          </a:prstGeom>
          <a:solidFill>
            <a:srgbClr val="DDF2E8"/>
          </a:solidFill>
          <a:ln/>
        </p:spPr>
      </p:sp>
      <p:sp>
        <p:nvSpPr>
          <p:cNvPr id="17" name="Text 14"/>
          <p:cNvSpPr/>
          <p:nvPr/>
        </p:nvSpPr>
        <p:spPr>
          <a:xfrm>
            <a:off x="533387" y="2679303"/>
            <a:ext cx="603869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3387" y="2893219"/>
            <a:ext cx="58609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Classify and flag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3387" y="3166864"/>
            <a:ext cx="5308467" cy="49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Classify grades and flag attendance below the required threshold.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if-else chains for grade bands and switch for fixed status codes.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046" y="2520553"/>
            <a:ext cx="5664058" cy="1328837"/>
          </a:xfrm>
          <a:prstGeom prst="roundRect">
            <a:avLst>
              <a:gd name="adj" fmla="val 5505"/>
            </a:avLst>
          </a:prstGeom>
          <a:solidFill>
            <a:srgbClr val="F4F3EC"/>
          </a:solidFill>
          <a:ln/>
        </p:spPr>
      </p:sp>
      <p:sp>
        <p:nvSpPr>
          <p:cNvPr id="21" name="Text 18"/>
          <p:cNvSpPr/>
          <p:nvPr/>
        </p:nvSpPr>
        <p:spPr>
          <a:xfrm>
            <a:off x="6349841" y="2679303"/>
            <a:ext cx="584185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49841" y="2893219"/>
            <a:ext cx="58418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Repeat consistently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49841" y="3166864"/>
            <a:ext cx="525131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Process every student, course, attendance entry and assessment mark so repeated processing is consistent instead of manually repeated.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91" y="311150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CO3 · ARRAYS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55591" y="559234"/>
            <a:ext cx="1142336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Arrays organize marks and attendance by course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Fixed groups of related values become easy to calculate and compare.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5591" y="1393527"/>
            <a:ext cx="5664058" cy="1751509"/>
          </a:xfrm>
          <a:prstGeom prst="roundRect">
            <a:avLst>
              <a:gd name="adj" fmla="val 4176"/>
            </a:avLst>
          </a:prstGeom>
          <a:solidFill>
            <a:srgbClr val="F4F3EC"/>
          </a:solidFill>
          <a:ln/>
        </p:spPr>
      </p:sp>
      <p:sp>
        <p:nvSpPr>
          <p:cNvPr id="7" name="Text 4"/>
          <p:cNvSpPr/>
          <p:nvPr/>
        </p:nvSpPr>
        <p:spPr>
          <a:xfrm>
            <a:off x="558786" y="1577677"/>
            <a:ext cx="601330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MARKS ARRAY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8786" y="1845469"/>
            <a:ext cx="546682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7804" y="1901924"/>
            <a:ext cx="15105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QUIZ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188016" y="1845469"/>
            <a:ext cx="1069651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6934" y="1901924"/>
            <a:ext cx="219099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40115" y="1845469"/>
            <a:ext cx="808117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39133" y="1901924"/>
            <a:ext cx="18217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MIDTERM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30879" y="1845469"/>
            <a:ext cx="633794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9896" y="1901924"/>
            <a:ext cx="159777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8786" y="2163366"/>
            <a:ext cx="58101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Assessment values stay together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58786" y="2436912"/>
            <a:ext cx="525766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An array can hold marks for quizzes, assignments, midterms and finals within one course record.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046" y="1393527"/>
            <a:ext cx="5664058" cy="1751509"/>
          </a:xfrm>
          <a:prstGeom prst="roundRect">
            <a:avLst>
              <a:gd name="adj" fmla="val 4176"/>
            </a:avLst>
          </a:prstGeom>
          <a:solidFill>
            <a:srgbClr val="F4F3EC"/>
          </a:solidFill>
          <a:ln/>
        </p:spPr>
      </p:sp>
      <p:sp>
        <p:nvSpPr>
          <p:cNvPr id="19" name="Text 16"/>
          <p:cNvSpPr/>
          <p:nvPr/>
        </p:nvSpPr>
        <p:spPr>
          <a:xfrm>
            <a:off x="6375241" y="1577677"/>
            <a:ext cx="581645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ATTENDANCE ARRAY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75241" y="1845469"/>
            <a:ext cx="808117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4258" y="1901924"/>
            <a:ext cx="257565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</a:t>
            </a:r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65905" y="1845469"/>
            <a:ext cx="720905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69458" y="1845469"/>
            <a:ext cx="808117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475" y="1901924"/>
            <a:ext cx="266296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</a:t>
            </a:r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960221" y="1845469"/>
            <a:ext cx="808117" cy="257373"/>
          </a:xfrm>
          <a:prstGeom prst="roundRect">
            <a:avLst>
              <a:gd name="adj" fmla="val 9237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75241" y="2163366"/>
            <a:ext cx="58101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Sessions become processable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375241" y="2436912"/>
            <a:ext cx="5257668" cy="49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Attendance arrays track present or absent values across class sessions.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Counting present sessions gives the attendance percentage.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55591" y="3259435"/>
            <a:ext cx="11480513" cy="570210"/>
          </a:xfrm>
          <a:prstGeom prst="roundRect">
            <a:avLst>
              <a:gd name="adj" fmla="val 12829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4185" y="3437235"/>
            <a:ext cx="116075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Loop through the arrays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to calculate totals, averages and attendance percentages without rewriting the same operation for every value.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378" y="1146870"/>
            <a:ext cx="6831735" cy="3536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192" y="311745"/>
            <a:ext cx="406489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CO4 · OBJECT-ORIENTED DESIGN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30192" y="503076"/>
            <a:ext cx="3606511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Classes make the academic domain understandable and robust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30192" y="2151261"/>
            <a:ext cx="360651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code mirrors the university workflow instead of hiding it inside one large procedure.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30192" y="2760861"/>
            <a:ext cx="1727058" cy="2766020"/>
          </a:xfrm>
          <a:prstGeom prst="roundRect">
            <a:avLst>
              <a:gd name="adj" fmla="val 4236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6086" y="2957016"/>
            <a:ext cx="15111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6086" y="3155652"/>
            <a:ext cx="1295268" cy="1079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Keep fields private and expose validated methods such as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4F3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updateMarks()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7851" y="4001393"/>
            <a:ext cx="1089692" cy="228600"/>
          </a:xfrm>
          <a:prstGeom prst="roundRect">
            <a:avLst>
              <a:gd name="adj" fmla="val 10833"/>
            </a:avLst>
          </a:prstGeom>
          <a:solidFill>
            <a:srgbClr val="1C372F"/>
          </a:solidFill>
          <a:ln/>
        </p:spPr>
      </p:sp>
      <p:sp>
        <p:nvSpPr>
          <p:cNvPr id="10" name="Shape 7"/>
          <p:cNvSpPr/>
          <p:nvPr/>
        </p:nvSpPr>
        <p:spPr>
          <a:xfrm>
            <a:off x="2209646" y="2760861"/>
            <a:ext cx="1727058" cy="2766020"/>
          </a:xfrm>
          <a:prstGeom prst="roundRect">
            <a:avLst>
              <a:gd name="adj" fmla="val 4236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5540" y="2927846"/>
            <a:ext cx="1295268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25540" y="3315593"/>
            <a:ext cx="1295268" cy="107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Handle invalid marks, missing files and incorrect student IDs without crashing.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25540" y="4458494"/>
            <a:ext cx="1295268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clear messages so staff know what to correct.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312" y="2645370"/>
            <a:ext cx="355393" cy="355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38897" y="3471552"/>
            <a:ext cx="1579523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Course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38897" y="3730069"/>
            <a:ext cx="157952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Student enrolls in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618420" y="1364542"/>
            <a:ext cx="3144164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Student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194" y="2885281"/>
            <a:ext cx="355393" cy="355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27597" y="3703823"/>
            <a:ext cx="2209546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GradeRecord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127597" y="3963630"/>
            <a:ext cx="220954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Owned by student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687" y="2616101"/>
            <a:ext cx="355492" cy="3555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27272" y="3456272"/>
            <a:ext cx="1599962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AttendanceRecord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827272" y="3714690"/>
            <a:ext cx="159996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Owned by student</a:t>
            </a:r>
            <a:endParaRPr lang="en-US" sz="13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91" y="311150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CO5 · TEXT AND FILE I/O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55591" y="559234"/>
            <a:ext cx="1142336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Text processing and file I/O preserve academic history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system keeps records useful during the session and available after the program closes.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5591" y="1368127"/>
            <a:ext cx="7174527" cy="5210473"/>
          </a:xfrm>
          <a:prstGeom prst="roundRect">
            <a:avLst>
              <a:gd name="adj" fmla="val 1404"/>
            </a:avLst>
          </a:prstGeom>
          <a:solidFill>
            <a:srgbClr val="F4F3EC"/>
          </a:solidFill>
          <a:ln/>
        </p:spPr>
      </p:sp>
      <p:sp>
        <p:nvSpPr>
          <p:cNvPr id="7" name="Text 4"/>
          <p:cNvSpPr/>
          <p:nvPr/>
        </p:nvSpPr>
        <p:spPr>
          <a:xfrm>
            <a:off x="558786" y="1552277"/>
            <a:ext cx="75237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 WITH TEXT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86" y="1778992"/>
            <a:ext cx="330192" cy="33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4074" y="1788418"/>
            <a:ext cx="221143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Format reports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54074" y="2061964"/>
            <a:ext cx="1658995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String and StringBuilder for student reports and attendance summaries.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465" y="1778992"/>
            <a:ext cx="330192" cy="33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60753" y="1788418"/>
            <a:ext cx="23287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Find and compare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360753" y="2061964"/>
            <a:ext cx="1659194" cy="107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Search by ID or name, compare names and course codes consistently, and sort by grade or attendance.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442" y="1778992"/>
            <a:ext cx="330192" cy="330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7729" y="1788418"/>
            <a:ext cx="221143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Persist history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667729" y="2061964"/>
            <a:ext cx="1658995" cy="1812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Read and write text files so grades and attendance remain available after the program closes.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Reload saved records at startup to continue the term.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230" y="2566194"/>
            <a:ext cx="2129082" cy="2950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91" y="311150"/>
            <a:ext cx="812144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CO6 · COLLECTIONS AND STREAMS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55591" y="559234"/>
            <a:ext cx="7504222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Collections and streams scale the tracker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5591" y="1026517"/>
            <a:ext cx="812144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data structures match the jobs the system needs to perform.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5591" y="1368127"/>
            <a:ext cx="7213420" cy="2528987"/>
          </a:xfrm>
          <a:prstGeom prst="roundRect">
            <a:avLst>
              <a:gd name="adj" fmla="val 2892"/>
            </a:avLst>
          </a:prstGeom>
          <a:solidFill>
            <a:srgbClr val="F4F3E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7" y="1520527"/>
            <a:ext cx="330192" cy="33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674" y="1529953"/>
            <a:ext cx="22414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ArrayList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28674" y="1803598"/>
            <a:ext cx="1631909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Store students and courses in an ordered collection that grows as enrolment changes.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128" y="1520527"/>
            <a:ext cx="330192" cy="330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65416" y="1529953"/>
            <a:ext cx="22414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HashMap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365416" y="1803598"/>
            <a:ext cx="1689058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Find a student quickly by student ID or course code.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870" y="1520527"/>
            <a:ext cx="330192" cy="330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02157" y="1529953"/>
            <a:ext cx="22414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702157" y="1803598"/>
            <a:ext cx="163190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Keep course codes unique.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55591" y="4049613"/>
            <a:ext cx="7213420" cy="2529185"/>
          </a:xfrm>
          <a:prstGeom prst="roundRect">
            <a:avLst>
              <a:gd name="adj" fmla="val 2892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58786" y="4233763"/>
            <a:ext cx="756266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 PIPELINE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58786" y="4432300"/>
            <a:ext cx="67498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Filter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attendance below threshold →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sort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by percentage →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map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to student alerts →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collect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the final list.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602" y="0"/>
            <a:ext cx="4267093" cy="68580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990" y="336550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CONCLUSION · SYSTEM VIEW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80990" y="584634"/>
            <a:ext cx="1137256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From manual records to a dependable Java system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80990" y="1226641"/>
            <a:ext cx="436234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Core Java concepts become a practical university workflow.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80990" y="2743696"/>
            <a:ext cx="1458380" cy="31552"/>
          </a:xfrm>
          <a:prstGeom prst="roundRect">
            <a:avLst>
              <a:gd name="adj" fmla="val 49998"/>
            </a:avLst>
          </a:prstGeom>
          <a:solidFill>
            <a:srgbClr val="9FE3C4"/>
          </a:solidFill>
          <a:ln/>
        </p:spPr>
      </p:sp>
      <p:sp>
        <p:nvSpPr>
          <p:cNvPr id="7" name="Text 4"/>
          <p:cNvSpPr/>
          <p:nvPr/>
        </p:nvSpPr>
        <p:spPr>
          <a:xfrm>
            <a:off x="380990" y="2865239"/>
            <a:ext cx="441948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tracker connects data types, control flow, arrays, classes, text processing, file I/O, collections and streams.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232269" y="1052909"/>
            <a:ext cx="3213020" cy="2533452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/>
        </p:spPr>
      </p:sp>
      <p:sp>
        <p:nvSpPr>
          <p:cNvPr id="9" name="Text 6"/>
          <p:cNvSpPr/>
          <p:nvPr/>
        </p:nvSpPr>
        <p:spPr>
          <a:xfrm>
            <a:off x="5410065" y="1211659"/>
            <a:ext cx="358766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CONSISTENCY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10065" y="1410196"/>
            <a:ext cx="280028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More reliable attendance, grading, validation and reporting.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7685" y="1052909"/>
            <a:ext cx="3213020" cy="2533452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/>
        </p:spPr>
      </p:sp>
      <p:sp>
        <p:nvSpPr>
          <p:cNvPr id="12" name="Text 9"/>
          <p:cNvSpPr/>
          <p:nvPr/>
        </p:nvSpPr>
        <p:spPr>
          <a:xfrm>
            <a:off x="8775480" y="1211659"/>
            <a:ext cx="341621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MAINTAINABILITY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75480" y="1410196"/>
            <a:ext cx="280028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Object-oriented design keeps the system understandable as features grow.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2269" y="3738860"/>
            <a:ext cx="6578435" cy="2533452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5464" y="3923010"/>
            <a:ext cx="675623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FOUNDATION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35464" y="4121448"/>
            <a:ext cx="6172046" cy="49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Ready for dashboards, authentication and database integration.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Validation rules can extend to new record types.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80990" y="6398617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DEPENDABLE FOUNDATION FOR A CLEARER ACADEMIC RECORD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55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dirty="0">
                <a:solidFill>
                  <a:srgbClr val="F4F3EC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Screenshots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55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dirty="0">
                <a:solidFill>
                  <a:srgbClr val="F4F3EC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Geo Tag Photo and GitHub Link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221085"/>
            <a:ext cx="5333867" cy="502841"/>
          </a:xfrm>
          <a:prstGeom prst="rect">
            <a:avLst/>
          </a:prstGeom>
          <a:solidFill>
            <a:srgbClr val="F4F3EC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376343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Geo-tag photo goes here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48244" y="1221085"/>
            <a:ext cx="5333867" cy="502841"/>
          </a:xfrm>
          <a:prstGeom prst="rect">
            <a:avLst/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400640" y="1376343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GitHub link goes here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2026-10-16T03:50:07Z</dcterms:created>
  <dcterms:modified xsi:type="dcterms:W3CDTF">2026-10-16T03:50:07Z</dcterms:modified>
</cp:coreProperties>
</file>